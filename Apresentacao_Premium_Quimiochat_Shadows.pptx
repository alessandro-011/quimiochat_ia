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487168"/>
            <a:ext cx="91440" cy="2286000"/>
          </a:xfrm>
          <a:prstGeom prst="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91440" cy="228600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AAFB9"/>
                </a:solidFill>
                <a:latin typeface="Segoe UI"/>
              </a:defRPr>
            </a:pPr>
            <a:r>
              <a:t>SISTEMA 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E5FF"/>
                </a:solidFill>
                <a:latin typeface="Segoe UI"/>
              </a:defRPr>
            </a:pPr>
            <a:r>
              <a:t>QUIMIOINFORMÁTICA</a:t>
            </a:r>
            <a:br/>
            <a:r>
              <a:t>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Integração entre pesquisa química e IA Generativa (Ollama/Gemma2)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FB9"/>
                </a:solidFill>
                <a:latin typeface="Segoe UI"/>
              </a:defRPr>
            </a:pPr>
            <a:r>
              <a:t>Alessandro Lopes e Guilherme Silva | Campus Itapecuru Mirim, UEMA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INTRODUÇÃO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938528"/>
            <a:ext cx="2560320" cy="36576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36576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E5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IA na Pesquisa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FB9"/>
                </a:solidFill>
                <a:latin typeface="Segoe UI"/>
              </a:defRPr>
            </a:pPr>
            <a:r>
              <a:t>Uso de Inteligência Artificial para acelerar pesquisas e descobertas.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938528"/>
            <a:ext cx="2560320" cy="36576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560320" cy="36576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E5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Tradução Complexa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FB9"/>
                </a:solidFill>
                <a:latin typeface="Segoe UI"/>
              </a:defRPr>
            </a:pPr>
            <a:r>
              <a:t>Tradução de nomes populares para estruturas químicas complexas (SMILES).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38528"/>
            <a:ext cx="2560320" cy="36576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560320" cy="36576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E5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Validação Oficial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FB9"/>
                </a:solidFill>
                <a:latin typeface="Segoe UI"/>
              </a:defRPr>
            </a:pPr>
            <a:r>
              <a:t>Integração direta com bases oficiais como NCBI e PubChem para validação.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O PROBLEMA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938528"/>
            <a:ext cx="3474720" cy="36576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36576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Por que buscar compostos</a:t>
            </a:r>
            <a:br/>
            <a:r>
              <a:t>é tão difícil?</a:t>
            </a:r>
          </a:p>
        </p:txBody>
      </p:sp>
      <p:sp>
        <p:nvSpPr>
          <p:cNvPr id="6" name="Oval 5"/>
          <p:cNvSpPr/>
          <p:nvPr/>
        </p:nvSpPr>
        <p:spPr>
          <a:xfrm>
            <a:off x="4498848" y="2304288"/>
            <a:ext cx="182880" cy="18288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89120" y="2194560"/>
            <a:ext cx="182880" cy="182880"/>
          </a:xfrm>
          <a:prstGeom prst="ellipse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62272" y="2377440"/>
            <a:ext cx="36576" cy="109728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98848" y="3584448"/>
            <a:ext cx="182880" cy="18288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3474720"/>
            <a:ext cx="182880" cy="182880"/>
          </a:xfrm>
          <a:prstGeom prst="ellipse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3657600"/>
            <a:ext cx="36576" cy="109728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98848" y="4864608"/>
            <a:ext cx="182880" cy="18288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4754880"/>
            <a:ext cx="182880" cy="182880"/>
          </a:xfrm>
          <a:prstGeom prst="ellipse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Bases tradicionais exigem nomenclatura IUPAC exata.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832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Pesquisadores perdem tempo traduzindo nomes populares.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Falta de ferramentas locais e centralizadas.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OBJETIVOS DO PROJETO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81328"/>
            <a:ext cx="8229600" cy="18288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219"/>
                </a:solidFill>
                <a:latin typeface="Segoe UI"/>
              </a:defRPr>
            </a:pPr>
            <a:r>
              <a:t>Objetivo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219"/>
                </a:solidFill>
                <a:latin typeface="Segoe UI"/>
              </a:defRPr>
            </a:pPr>
            <a:r>
              <a:t>Desenvolver API REST e Interface Web para consulta e comparação</a:t>
            </a:r>
            <a:br/>
            <a:r>
              <a:t>de moléculas orquestrando IA Generativa e PubChem.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67328"/>
            <a:ext cx="2560320" cy="22860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2560320" cy="22860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Implementar IA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FB9"/>
                </a:solidFill>
                <a:latin typeface="Segoe UI"/>
              </a:defRPr>
            </a:pPr>
            <a:r>
              <a:t>Utilizar Ollama com modelo Gemma2 para gerar SMILES com segurança e privacidade.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3767328"/>
            <a:ext cx="2560320" cy="22860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3657600"/>
            <a:ext cx="2560320" cy="22860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Garantir Segurança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389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FB9"/>
                </a:solidFill>
                <a:latin typeface="Segoe UI"/>
              </a:defRPr>
            </a:pPr>
            <a:r>
              <a:t>Proteger acesso com autenticação JWT e usar banco de dados relacional isolado.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767328"/>
            <a:ext cx="2560320" cy="22860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657600"/>
            <a:ext cx="2560320" cy="22860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Performance e Métricas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89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FB9"/>
                </a:solidFill>
                <a:latin typeface="Segoe UI"/>
              </a:defRPr>
            </a:pPr>
            <a:r>
              <a:t>Mensurar o tempo de resposta entre a IA (local) e a API pública (nuvem).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PÚBLICO-ALVO</a:t>
            </a:r>
          </a:p>
        </p:txBody>
      </p:sp>
      <p:sp>
        <p:nvSpPr>
          <p:cNvPr id="3" name="Oval 2"/>
          <p:cNvSpPr/>
          <p:nvPr/>
        </p:nvSpPr>
        <p:spPr>
          <a:xfrm>
            <a:off x="1207008" y="2395728"/>
            <a:ext cx="1828800" cy="182880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286000"/>
            <a:ext cx="1828800" cy="1828800"/>
          </a:xfrm>
          <a:prstGeom prst="ellipse">
            <a:avLst/>
          </a:prstGeom>
          <a:noFill/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Pesquisadores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FB9"/>
                </a:solidFill>
                <a:latin typeface="Segoe UI"/>
              </a:defRPr>
            </a:pPr>
            <a:r>
              <a:t>Iniciantes em</a:t>
            </a:r>
            <a:br/>
            <a:r>
              <a:t>IA e Quimioinformática.</a:t>
            </a:r>
          </a:p>
        </p:txBody>
      </p:sp>
      <p:sp>
        <p:nvSpPr>
          <p:cNvPr id="7" name="Oval 6"/>
          <p:cNvSpPr/>
          <p:nvPr/>
        </p:nvSpPr>
        <p:spPr>
          <a:xfrm>
            <a:off x="3767328" y="2395728"/>
            <a:ext cx="1828800" cy="182880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0" y="2286000"/>
            <a:ext cx="1828800" cy="1828800"/>
          </a:xfrm>
          <a:prstGeom prst="ellipse">
            <a:avLst/>
          </a:prstGeom>
          <a:noFill/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Estudantes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FB9"/>
                </a:solidFill>
                <a:latin typeface="Segoe UI"/>
              </a:defRPr>
            </a:pPr>
            <a:r>
              <a:t>Química Farmacêutica</a:t>
            </a:r>
            <a:br/>
            <a:r>
              <a:t>e áreas correlatas.</a:t>
            </a:r>
          </a:p>
        </p:txBody>
      </p:sp>
      <p:sp>
        <p:nvSpPr>
          <p:cNvPr id="11" name="Oval 10"/>
          <p:cNvSpPr/>
          <p:nvPr/>
        </p:nvSpPr>
        <p:spPr>
          <a:xfrm>
            <a:off x="6327648" y="2395728"/>
            <a:ext cx="1828800" cy="182880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0" y="2286000"/>
            <a:ext cx="1828800" cy="1828800"/>
          </a:xfrm>
          <a:prstGeom prst="ellipse">
            <a:avLst/>
          </a:prstGeom>
          <a:noFill/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Laboratórios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FB9"/>
                </a:solidFill>
                <a:latin typeface="Segoe UI"/>
              </a:defRPr>
            </a:pPr>
            <a:r>
              <a:t>Buscam prototipação</a:t>
            </a:r>
            <a:br/>
            <a:r>
              <a:t>rápida e barata.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TECNOLOGIAS UTILIZADAS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938528"/>
            <a:ext cx="2560320" cy="18288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8288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91440" cy="54864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Python, FastAPI</a:t>
            </a:r>
            <a:br/>
            <a:r>
              <a:t>SQLAlchemy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938528"/>
            <a:ext cx="2560320" cy="18288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560320" cy="18288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2103120"/>
            <a:ext cx="91440" cy="54864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Streamlit</a:t>
            </a:r>
            <a:br/>
            <a:r>
              <a:t>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38528"/>
            <a:ext cx="2560320" cy="18288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560320" cy="18288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03120"/>
            <a:ext cx="91440" cy="54864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SQLite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24528"/>
            <a:ext cx="2560320" cy="18288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2560320" cy="18288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91440" cy="54864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IA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Ollama</a:t>
            </a:r>
            <a:br/>
            <a:r>
              <a:t>Modelo Gemma2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4224528"/>
            <a:ext cx="2560320" cy="18288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91840" y="4114800"/>
            <a:ext cx="2560320" cy="18288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4389120"/>
            <a:ext cx="91440" cy="54864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APIs EXTERNAS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PubChem</a:t>
            </a:r>
            <a:br/>
            <a:r>
              <a:t>REST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4224528"/>
            <a:ext cx="2560320" cy="18288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80" y="4114800"/>
            <a:ext cx="2560320" cy="18288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389120"/>
            <a:ext cx="91440" cy="54864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SEGURANÇA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PyJWT</a:t>
            </a:r>
            <a:br/>
            <a:r>
              <a:t>bcrypt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ARQUITETURA DO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395728"/>
            <a:ext cx="2011680" cy="22860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011680" cy="22860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Streamlit</a:t>
            </a:r>
            <a:br/>
            <a:r>
              <a:t>(Interface)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3291840"/>
            <a:ext cx="548640" cy="182880"/>
          </a:xfrm>
          <a:prstGeom prst="rightArrow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10128" y="1938528"/>
            <a:ext cx="2743200" cy="32004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2743200" cy="32004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219"/>
                </a:solidFill>
                <a:latin typeface="Segoe UI"/>
              </a:defRPr>
            </a:pPr>
            <a:r>
              <a:t>FASTAPI (Orquestrador)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26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Delega orquestração</a:t>
            </a:r>
            <a:br/>
            <a:r>
              <a:t>assíncrona e</a:t>
            </a:r>
            <a:br/>
            <a:r>
              <a:t>unifica os dados.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2286000"/>
            <a:ext cx="548640" cy="137160"/>
          </a:xfrm>
          <a:prstGeom prst="rightArrow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035040" y="3291840"/>
            <a:ext cx="548640" cy="137160"/>
          </a:xfrm>
          <a:prstGeom prst="rightArrow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035040" y="4297680"/>
            <a:ext cx="548640" cy="137160"/>
          </a:xfrm>
          <a:prstGeom prst="rightArrow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84848" y="2029968"/>
            <a:ext cx="2011680" cy="73152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1920240"/>
            <a:ext cx="2011680" cy="731520"/>
          </a:xfrm>
          <a:prstGeom prst="roundRect">
            <a:avLst/>
          </a:prstGeom>
          <a:noFill/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Ollama / Gemma2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4848" y="3035808"/>
            <a:ext cx="2011680" cy="73152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2926080"/>
            <a:ext cx="2011680" cy="731520"/>
          </a:xfrm>
          <a:prstGeom prst="roundRect">
            <a:avLst/>
          </a:prstGeom>
          <a:noFill/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154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PubChem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4848" y="4041648"/>
            <a:ext cx="2011680" cy="73152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0" y="3931920"/>
            <a:ext cx="2011680" cy="731520"/>
          </a:xfrm>
          <a:prstGeom prst="roundRect">
            <a:avLst/>
          </a:prstGeom>
          <a:noFill/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SQLite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DEMONSTRAÇÃO: FRONTEND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81328"/>
            <a:ext cx="8229600" cy="50292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50292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0A0F14"/>
          </a:solidFill>
          <a:ln>
            <a:solidFill>
              <a:srgbClr val="0A0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08760"/>
            <a:ext cx="137160" cy="137160"/>
          </a:xfrm>
          <a:prstGeom prst="ellipse">
            <a:avLst/>
          </a:prstGeom>
          <a:solidFill>
            <a:srgbClr val="FF5F56"/>
          </a:solidFill>
          <a:ln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FFBD2E"/>
          </a:solidFill>
          <a:ln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508760"/>
            <a:ext cx="137160" cy="137160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1463040"/>
            <a:ext cx="5486400" cy="18288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011680"/>
            <a:ext cx="7315200" cy="3931920"/>
          </a:xfrm>
          <a:prstGeom prst="rect">
            <a:avLst/>
          </a:prstGeom>
          <a:noFill/>
          <a:ln w="254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AAFB9"/>
                </a:solidFill>
                <a:latin typeface="Segoe UI"/>
              </a:defRPr>
            </a:pPr>
            <a:r>
              <a:t>[ ARRASTE SEU PRINT DO STREAMLIT AQUI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DEMONSTRAÇÃO: DER E BD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81328"/>
            <a:ext cx="8229600" cy="502920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502920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5029200"/>
          </a:xfrm>
          <a:prstGeom prst="rect">
            <a:avLst/>
          </a:prstGeom>
          <a:solidFill>
            <a:srgbClr val="141822"/>
          </a:solidFill>
          <a:ln>
            <a:solidFill>
              <a:srgbClr val="141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SCHEMA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users (1)</a:t>
            </a:r>
            <a:br/>
            <a:r>
              <a:t>• histories (N)</a:t>
            </a:r>
            <a:br/>
            <a:r>
              <a:t>• molecules (1)</a:t>
            </a:r>
            <a:br/>
            <a:r>
              <a:t>• logs (N)</a:t>
            </a:r>
            <a:br/>
            <a:r>
              <a:t>• sessions (N)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554480"/>
            <a:ext cx="5577840" cy="4663440"/>
          </a:xfrm>
          <a:prstGeom prst="rect">
            <a:avLst/>
          </a:prstGeom>
          <a:noFill/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84048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Segoe UI"/>
              </a:defRPr>
            </a:pPr>
            <a:r>
              <a:t>[ ARRASTE A IMAGEM DO DER.png AQUI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FLUXO DE INTEGRAÇÃO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767328"/>
            <a:ext cx="8229600" cy="45720"/>
          </a:xfrm>
          <a:prstGeom prst="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8229600" cy="4572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3630168"/>
            <a:ext cx="320040" cy="32004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3520440"/>
            <a:ext cx="320040" cy="320040"/>
          </a:xfrm>
          <a:prstGeom prst="ellipse">
            <a:avLst/>
          </a:prstGeom>
          <a:solidFill>
            <a:srgbClr val="0F1219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Login &amp;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FB9"/>
                </a:solidFill>
                <a:latin typeface="Segoe UI"/>
              </a:defRPr>
            </a:pPr>
            <a:r>
              <a:t>Usuário pesquisa</a:t>
            </a:r>
            <a:br/>
            <a:r>
              <a:t>'Aspirina'</a:t>
            </a:r>
          </a:p>
        </p:txBody>
      </p:sp>
      <p:sp>
        <p:nvSpPr>
          <p:cNvPr id="10" name="Oval 9"/>
          <p:cNvSpPr/>
          <p:nvPr/>
        </p:nvSpPr>
        <p:spPr>
          <a:xfrm>
            <a:off x="2624328" y="3630168"/>
            <a:ext cx="320040" cy="32004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4600" y="3520440"/>
            <a:ext cx="320040" cy="320040"/>
          </a:xfrm>
          <a:prstGeom prst="ellipse">
            <a:avLst/>
          </a:prstGeom>
          <a:solidFill>
            <a:srgbClr val="0F1219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30175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FB9"/>
                </a:solidFill>
                <a:latin typeface="Segoe UI"/>
              </a:defRPr>
            </a:pPr>
            <a:r>
              <a:t>Endpoint</a:t>
            </a:r>
            <a:br/>
            <a:r>
              <a:t>/molecules/search</a:t>
            </a:r>
          </a:p>
        </p:txBody>
      </p:sp>
      <p:sp>
        <p:nvSpPr>
          <p:cNvPr id="15" name="Oval 14"/>
          <p:cNvSpPr/>
          <p:nvPr/>
        </p:nvSpPr>
        <p:spPr>
          <a:xfrm>
            <a:off x="4224528" y="3630168"/>
            <a:ext cx="320040" cy="32004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14800" y="3520440"/>
            <a:ext cx="320040" cy="320040"/>
          </a:xfrm>
          <a:prstGeom prst="ellipse">
            <a:avLst/>
          </a:prstGeom>
          <a:solidFill>
            <a:srgbClr val="0F1219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30175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Orquestração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FB9"/>
                </a:solidFill>
                <a:latin typeface="Segoe UI"/>
              </a:defRPr>
            </a:pPr>
            <a:r>
              <a:t>LLM traduz e</a:t>
            </a:r>
            <a:br/>
            <a:r>
              <a:t>PubChem valida</a:t>
            </a:r>
          </a:p>
        </p:txBody>
      </p:sp>
      <p:sp>
        <p:nvSpPr>
          <p:cNvPr id="20" name="Oval 19"/>
          <p:cNvSpPr/>
          <p:nvPr/>
        </p:nvSpPr>
        <p:spPr>
          <a:xfrm>
            <a:off x="5824728" y="3630168"/>
            <a:ext cx="320040" cy="32004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5000" y="3520440"/>
            <a:ext cx="320040" cy="320040"/>
          </a:xfrm>
          <a:prstGeom prst="ellipse">
            <a:avLst/>
          </a:prstGeom>
          <a:solidFill>
            <a:srgbClr val="0F1219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30175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Persistência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FB9"/>
                </a:solidFill>
                <a:latin typeface="Segoe UI"/>
              </a:defRPr>
            </a:pPr>
            <a:r>
              <a:t>Banco salva a</a:t>
            </a:r>
            <a:br/>
            <a:r>
              <a:t>métrica de tempo</a:t>
            </a:r>
          </a:p>
        </p:txBody>
      </p:sp>
      <p:sp>
        <p:nvSpPr>
          <p:cNvPr id="25" name="Oval 24"/>
          <p:cNvSpPr/>
          <p:nvPr/>
        </p:nvSpPr>
        <p:spPr>
          <a:xfrm>
            <a:off x="7424928" y="3630168"/>
            <a:ext cx="320040" cy="320040"/>
          </a:xfrm>
          <a:prstGeom prst="ellipse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3520440"/>
            <a:ext cx="320040" cy="320040"/>
          </a:xfrm>
          <a:prstGeom prst="ellipse">
            <a:avLst/>
          </a:prstGeom>
          <a:solidFill>
            <a:srgbClr val="0F1219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0175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Renderização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FB9"/>
                </a:solidFill>
                <a:latin typeface="Segoe UI"/>
              </a:defRPr>
            </a:pPr>
            <a:r>
              <a:t>Frontend exibe</a:t>
            </a:r>
            <a:br/>
            <a:r>
              <a:t>o visual 2D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RESULTADOS E FUTURO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755648"/>
            <a:ext cx="8229600" cy="201168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2011680"/>
          </a:xfrm>
          <a:prstGeom prst="round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219"/>
                </a:solidFill>
                <a:latin typeface="Segoe UI"/>
              </a:defRPr>
            </a:pPr>
            <a:r>
              <a:t>Missão Cumprida: Ecossistema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219"/>
                </a:solidFill>
                <a:latin typeface="Segoe UI"/>
              </a:defRPr>
            </a:pPr>
            <a:r>
              <a:t>A integração bem-sucedida atestou a viabilidade técnica e prática do uso de IAs locais (Gemma2) para agilizar e democratizar fluxos de quimioinformática.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041648"/>
            <a:ext cx="3931920" cy="219456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3931920" cy="219456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  <a:latin typeface="Segoe UI"/>
              </a:defRPr>
            </a:pPr>
            <a:r>
              <a:t>Impacto Imediato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Redução do tempo de tradução química.</a:t>
            </a:r>
            <a:br/>
            <a:r>
              <a:t>• Centralização das bases de dados.</a:t>
            </a:r>
            <a:br/>
            <a:r>
              <a:t>• Interface amigável para iniciantes.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4608" y="4041648"/>
            <a:ext cx="3931920" cy="2194560"/>
          </a:xfrm>
          <a:prstGeom prst="roundRect">
            <a:avLst/>
          </a:prstGeom>
          <a:solidFill>
            <a:srgbClr val="05070A"/>
          </a:solidFill>
          <a:ln>
            <a:solidFill>
              <a:srgbClr val="050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3931920"/>
            <a:ext cx="3931920" cy="2194560"/>
          </a:xfrm>
          <a:prstGeom prst="roundRect">
            <a:avLst/>
          </a:prstGeom>
          <a:solidFill>
            <a:srgbClr val="1C212D"/>
          </a:solidFill>
          <a:ln>
            <a:solidFill>
              <a:srgbClr val="1C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  <a:latin typeface="Segoe UI"/>
              </a:defRPr>
            </a:pPr>
            <a:r>
              <a:t>Próximos Passos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5720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Predição avançada de propriedades moleculares.</a:t>
            </a:r>
            <a:br/>
            <a:r>
              <a:t>• Suporte nativo a múltiplos LLMs.</a:t>
            </a:r>
            <a:br/>
            <a:r>
              <a:t>• Expandir integrações com outras APIs científicas.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